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tema. Frase de efeito: a técnica não aprende o que é normal, ela isola o que é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rápido. Cada integrante apresenta um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Ressaltar a anomalia por combinação: é exatamente o requisito do CSV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Anomalias são poucas e diferentes, então ficam sozinhas com poucos cortes.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com os outros grupos: Z-score é o grupo do Ivan. O IF nasce como resposta a esse tipo de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as datas antes de apresentar. A entrada no scikit-learn foi na versão 0.18.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laranja fica sozinho com dois cortes. Os pontos do centro precisam de muitos. Essa é toda a intuição.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precisa decorar a fórmula. O importante: score alto = caminho curto = fácil de isolar.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técnica é acessível. O trabalho difícil está em preparar os dados e interpretar.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Vários desses cenários são exatamente as sugestões que o professor deu para o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random_state para reprodutibilidade. Explicabilidade pode vir de SHAP ou de olhar os atributos manualmente.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Cut Forest é uma variação criada pela Amazon para o SageMaker e Kinesis. Citar como derivado, não como IF puro.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Isolation Forest foi proposto em 2023 por Xu e colaboradores. Verificar a referência antes de citar.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Preencher os colchetes quando o CSV estiver pronto. Explicar como cada anomalia foi inserida.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etapa é uma célula do Colab. Mostrar o notebook rodando ao vivo se der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com o que foi plantado no CSV. Destacar se a anomalia por combinação foi detectada.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frase principal e abrir para perguntas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3566160" cy="3566160"/>
          </a:xfrm>
          <a:prstGeom prst="ellipse">
            <a:avLst/>
          </a:prstGeom>
          <a:solidFill>
            <a:srgbClr val="2FA37A">
              <a:alpha val="18000"/>
            </a:srgbClr>
          </a:solidFill>
          <a:ln w="12700">
            <a:solidFill>
              <a:srgbClr val="2FA3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777240"/>
            <a:ext cx="301752" cy="301752"/>
          </a:xfrm>
          <a:prstGeom prst="ellipse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 · PYTHON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74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o que é raro em vez de modelar o que é normal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· Thiago Martins, Gabriel da Silva, Kauan Fonseca, João Pedro Carvalho e João Gabriel · Apresentação em 25/09/2026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apresentar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5248656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14884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56032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detectar anomalias é difícil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08776" y="1920240"/>
            <a:ext cx="5248656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83096" y="214884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Definição e histórico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83096" y="256032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por que foi criado, quem criou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3383280"/>
            <a:ext cx="5248656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61188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Funcionamento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02336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Árvores, partições e a pontuação de anomalia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08776" y="3383280"/>
            <a:ext cx="5248656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83096" y="361188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Aplicações e limitações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402336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sucesso e tendências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846320"/>
            <a:ext cx="5248656" cy="1234440"/>
          </a:xfrm>
          <a:prstGeom prst="roundRect">
            <a:avLst>
              <a:gd name="adj" fmla="val 8889"/>
            </a:avLst>
          </a:prstGeom>
          <a:solidFill>
            <a:srgbClr val="0F1F1C"/>
          </a:solidFill>
          <a:ln w="12700">
            <a:solidFill>
              <a:srgbClr val="0F1F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507492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Projeto prático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548640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fictício, pandas, Isolation Forest e gráfico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08776" y="4846320"/>
            <a:ext cx="5248656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83096" y="507492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Conclusão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83096" y="548640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e o que faríamos diferente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ESTUDADO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o raro no meio do comum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são poucas e diferentes. Em uma base com milhares de transações, algumas dezenas podem ser fraudes, e elas não vêm rotuladas.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sabemos de antemão como a anomalia se parece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quase nunca existem: aprendizado não supervisionado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anomalias só aparecem na combinação de atributos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que modelam o "normal" gastam esforço no lugar errado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1920240"/>
            <a:ext cx="4142232" cy="3108960"/>
          </a:xfrm>
          <a:prstGeom prst="roundRect">
            <a:avLst>
              <a:gd name="adj" fmla="val 3529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dia a dia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6517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compra de R$ 200 é normal. Uma compra às 3h da manhã é normal. Uma compra de R$ 200 às 3h da manhã, em outro país, dez minutos depois de outra compra, não é.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TEMA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Isolation Forest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não supervisionado de detecção de anomalias baseado em um conjunto de árvores aleatórias. Em vez de descrever o comportamento normal, ele mede quão fácil é </a:t>
            </a:r>
            <a:pPr indent="0" marL="0">
              <a:buNone/>
            </a:pPr>
            <a:r>
              <a:rPr lang="en-US" sz="1800" b="1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</a:t>
            </a:r>
            <a:pPr indent="0" marL="0">
              <a:buNone/>
            </a:pPr>
            <a:r>
              <a:rPr lang="en-US" sz="18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ponto.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34290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840480"/>
            <a:ext cx="2874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exemplos rotulados de fraude ou falha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3024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7344" y="34290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árvores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57344" y="3840480"/>
            <a:ext cx="2874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os dados com cortes aleatórios, sem calcular distâncias ou densidades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34528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08848" y="34290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contínua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08848" y="3840480"/>
            <a:ext cx="2874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recebe um score entre 0 e 1: quanto mais perto de 1, mais anômalo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TÉCNICA FOI CRIADA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métodos anteriores procuravam no lugar errado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5225796" cy="3931920"/>
          </a:xfrm>
          <a:prstGeom prst="roundRect">
            <a:avLst>
              <a:gd name="adj" fmla="val 2791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19456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modelar o normal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697480"/>
            <a:ext cx="45857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Z-score, distância (k-NN), densidade (LOF)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Constroem um perfil do que é comum e marcam o que foge dele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alto em bases grandes: comparar cada ponto com todos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Sofrem com muitas dimensões e com anomalias que se mascaram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31636" y="1920240"/>
            <a:ext cx="5225796" cy="3931920"/>
          </a:xfrm>
          <a:prstGeom prst="roundRect">
            <a:avLst>
              <a:gd name="adj" fmla="val 2791"/>
            </a:avLst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51676" y="219456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 isolar o anômalo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51676" y="2697480"/>
            <a:ext cx="45857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as duas propriedades da anomalia: ser rara e ser diferente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linear no número de registros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subamostras pequenas (256 pontos por árvore)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memória, treino rápido, sem cálculo de distância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HISTÓRICO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um artigo acadêmico a uma linha de código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o método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 Tony Liu, Kai Ming Ting e Zhi-Hua Zhou publicam o artigo Isolation Forest na conferência ICDM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30118" y="2011680"/>
            <a:ext cx="0" cy="2926080"/>
          </a:xfrm>
          <a:prstGeom prst="line">
            <a:avLst/>
          </a:prstGeom>
          <a:noFill/>
          <a:ln w="19050">
            <a:solidFill>
              <a:srgbClr val="DDE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12998" y="201168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412998" y="2788920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estendida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12998" y="3200400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autores publicam a análise completa no periódico ACM TKDD, consolidando a técnica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11596" y="2011680"/>
            <a:ext cx="0" cy="2926080"/>
          </a:xfrm>
          <a:prstGeom prst="line">
            <a:avLst/>
          </a:prstGeom>
          <a:noFill/>
          <a:ln w="19050">
            <a:solidFill>
              <a:srgbClr val="DDE3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94476" y="201168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094476" y="2788920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ao scikit-learn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094476" y="3200400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IsolationForest entra na biblioteca mais usada de aprendizado de máquina em Python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93074" y="2011680"/>
            <a:ext cx="0" cy="2926080"/>
          </a:xfrm>
          <a:prstGeom prst="line">
            <a:avLst/>
          </a:prstGeom>
          <a:noFill/>
          <a:ln w="19050">
            <a:solidFill>
              <a:srgbClr val="DDE3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5954" y="201168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6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2018+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8775954" y="2788920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775954" y="3200400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Isolation Forest e outras versões corrigem limitações do corte original, alinhado aos eixos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Liu, Ting e Zhou (2008, 2012); documentação do scikit-learn; Hariri, Kind e Brunner (2018)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CONCEITUAL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 aleatórios até cada ponto ficar sozinho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90123" y="365760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17658" y="352044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45193" y="379476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2588" y="386334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72727" y="358902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5774" y="393192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26356" y="345186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0" y="400050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81425" y="334899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98821" y="362331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68378" y="382905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22007" y="410337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4611" y="341757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35054" y="393192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49542" y="369189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77076" y="355473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58239" y="376047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32146" y="365760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30705" y="341757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13309" y="4171950"/>
            <a:ext cx="91440" cy="91440"/>
          </a:xfrm>
          <a:prstGeom prst="ellipse">
            <a:avLst/>
          </a:prstGeom>
          <a:solidFill>
            <a:srgbClr val="B7C7C1"/>
          </a:solidFill>
          <a:ln w="12700">
            <a:solidFill>
              <a:srgbClr val="B7C7C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30336" y="2455164"/>
            <a:ext cx="164592" cy="164592"/>
          </a:xfrm>
          <a:prstGeom prst="ellipse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1191" y="2057400"/>
            <a:ext cx="0" cy="3291840"/>
          </a:xfrm>
          <a:prstGeom prst="line">
            <a:avLst/>
          </a:prstGeom>
          <a:noFill/>
          <a:ln w="25400">
            <a:solidFill>
              <a:srgbClr val="2FA37A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4111191" y="3017520"/>
            <a:ext cx="1339115" cy="0"/>
          </a:xfrm>
          <a:prstGeom prst="line">
            <a:avLst/>
          </a:prstGeom>
          <a:noFill/>
          <a:ln w="25400">
            <a:solidFill>
              <a:srgbClr val="2FA37A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859055" y="3291840"/>
            <a:ext cx="3252136" cy="0"/>
          </a:xfrm>
          <a:prstGeom prst="line">
            <a:avLst/>
          </a:prstGeom>
          <a:noFill/>
          <a:ln w="12700">
            <a:solidFill>
              <a:srgbClr val="4A5A56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2261937" y="3291840"/>
            <a:ext cx="0" cy="2057400"/>
          </a:xfrm>
          <a:prstGeom prst="line">
            <a:avLst/>
          </a:prstGeom>
          <a:noFill/>
          <a:ln w="12700">
            <a:solidFill>
              <a:srgbClr val="4A5A56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2261937" y="4320540"/>
            <a:ext cx="1849254" cy="0"/>
          </a:xfrm>
          <a:prstGeom prst="line">
            <a:avLst/>
          </a:prstGeom>
          <a:noFill/>
          <a:ln w="12700">
            <a:solidFill>
              <a:srgbClr val="4A5A56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3537284" y="3291840"/>
            <a:ext cx="0" cy="1028700"/>
          </a:xfrm>
          <a:prstGeom prst="line">
            <a:avLst/>
          </a:prstGeom>
          <a:noFill/>
          <a:ln w="12700">
            <a:solidFill>
              <a:srgbClr val="4A5A56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2261937" y="3806190"/>
            <a:ext cx="1275347" cy="0"/>
          </a:xfrm>
          <a:prstGeom prst="line">
            <a:avLst/>
          </a:prstGeom>
          <a:noFill/>
          <a:ln w="12700">
            <a:solidFill>
              <a:srgbClr val="4A5A56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4302493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cortes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86589" y="48691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cortes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035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6583680" y="19476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uma subamostra pequena dos dados (padrão: 256 registros)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0350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6583680" y="26609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um atributo ao acaso e um valor de corte ao acaso entre o mínimo e o máximo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0350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6583680" y="33741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até isolar cada ponto. Isso forma uma árvore de isolamento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0350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4" name="Text 41"/>
          <p:cNvSpPr txBox="1"/>
          <p:nvPr/>
        </p:nvSpPr>
        <p:spPr>
          <a:xfrm>
            <a:off x="6583680" y="40873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100 árvores e mede a profundidade média em que cada ponto foi isolado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03504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6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Text 43"/>
          <p:cNvSpPr txBox="1"/>
          <p:nvPr/>
        </p:nvSpPr>
        <p:spPr>
          <a:xfrm>
            <a:off x="6583680" y="4800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curto = anomalia. Caminho longo = ponto normal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CONCEITUAL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pontuação de anomalia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0F1F1C"/>
          </a:solidFill>
          <a:ln w="12700">
            <a:solidFill>
              <a:srgbClr val="0F1F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2860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s(x, n) = 2 ^ ( − E[h(x)] / c(n) 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920240" y="3291840"/>
            <a:ext cx="2468880" cy="0"/>
          </a:xfrm>
          <a:prstGeom prst="line">
            <a:avLst/>
          </a:prstGeom>
          <a:noFill/>
          <a:ln w="19050">
            <a:solidFill>
              <a:srgbClr val="4A5A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35204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profundidade em que x foi isolado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E[h(x)] = média entre todas as árvores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c(n) = profundidade média esperada para n pontos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1920240"/>
            <a:ext cx="5422392" cy="822960"/>
          </a:xfrm>
          <a:prstGeom prst="roundRect">
            <a:avLst>
              <a:gd name="adj" fmla="val 11111"/>
            </a:avLst>
          </a:prstGeom>
          <a:solidFill>
            <a:srgbClr val="FBE3DA"/>
          </a:solidFill>
          <a:ln w="12700">
            <a:solidFill>
              <a:srgbClr val="FBE3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2029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próximo de 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350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muito mais curto que a média: anomalia clara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2880360"/>
            <a:ext cx="5422392" cy="822960"/>
          </a:xfrm>
          <a:prstGeom prst="roundRect">
            <a:avLst>
              <a:gd name="adj" fmla="val 11111"/>
            </a:avLst>
          </a:prstGeom>
          <a:solidFill>
            <a:srgbClr val="E0EFE9"/>
          </a:solidFill>
          <a:ln w="12700">
            <a:solidFill>
              <a:srgbClr val="E0EF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bem abaixo de 0,5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longo: ponto normal, cercado por vizinhos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35040" y="3840480"/>
            <a:ext cx="54223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perto de 0,5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4270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não tem anomalias evidentes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4892040"/>
            <a:ext cx="5422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scikit-learn, o parâmetro </a:t>
            </a:r>
            <a:pPr indent="0" marL="0">
              <a:buNone/>
            </a:pPr>
            <a:r>
              <a:rPr lang="en-US" sz="1250" b="1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a fração esperada de anomalias e vira o limiar de corte.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NA PRÁTICA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Python são poucas linhas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6400800" cy="4206240"/>
          </a:xfrm>
          <a:prstGeom prst="roundRect">
            <a:avLst>
              <a:gd name="adj" fmla="val 2609"/>
            </a:avLst>
          </a:prstGeom>
          <a:solidFill>
            <a:srgbClr val="0A1614"/>
          </a:solidFill>
          <a:ln w="12700">
            <a:solidFill>
              <a:srgbClr val="2A3E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14884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F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sklearn.ensemble </a:t>
            </a:r>
            <a:pPr indent="0" marL="0">
              <a:buNone/>
            </a:pPr>
            <a:r>
              <a:rPr lang="en-US" sz="1250" dirty="0">
                <a:solidFill>
                  <a:srgbClr val="7F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IsolationForest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F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</a:t>
            </a:r>
            <a:pPr indent="0" marL="0">
              <a:buNone/>
            </a:pPr>
            <a:r>
              <a:rPr lang="en-US" sz="1250" dirty="0">
                <a:solidFill>
                  <a:srgbClr val="7F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"vendas.csv"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"valor"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"qtd"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"hora"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X.fillna(X.median())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IsolationForest(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contamination=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"score"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modelo.fit(X).decision_function(X)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buNone/>
            </a:pPr>
            <a:r>
              <a:rPr lang="en-US" sz="1250" dirty="0">
                <a:solidFill>
                  <a:srgbClr val="E8B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"anomalia"</a:t>
            </a:r>
            <a:pPr indent="0" marL="0">
              <a:buNone/>
            </a:pPr>
            <a:r>
              <a:rPr lang="en-US" sz="125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modelo.predict(X)  </a:t>
            </a:r>
            <a:pPr indent="0" marL="0">
              <a:buNone/>
            </a:pPr>
            <a:r>
              <a:rPr lang="en-US" sz="1250" dirty="0">
                <a:solidFill>
                  <a:srgbClr val="6A8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-1 = anomalia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árvores. 100 costuma bastar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esperada de anomalias. Define o limiar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max_samples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4315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da subamostra por árvore. Padrão 256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5321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1 para normal e -1 para anomalia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Isolation Forest é usado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342290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14884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financeira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560320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com cartão, Pix e seguros fora do padrão do cliente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3024" y="1920240"/>
            <a:ext cx="342290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7344" y="214884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rede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57344" y="2560320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incomum, tentativas de invasão e acessos suspeitos a sites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34528" y="1920240"/>
            <a:ext cx="342290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8848" y="214884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e sensores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308848" y="2560320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preditiva: vibração, temperatura ou pressão fora da curva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" y="4069080"/>
            <a:ext cx="342290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42976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4709160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 e sinais vitais atípicos, erros de registro em prontuários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83024" y="4069080"/>
            <a:ext cx="342290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57344" y="42976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Varejo e logística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657344" y="4709160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fora do esperado, entregas atrasadas, consumo de energia anormal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34528" y="4069080"/>
            <a:ext cx="342290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8848" y="42976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4709160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outliers antes de treinar outros modelos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605784" y="2148840"/>
            <a:ext cx="274320" cy="274320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57288" y="2148840"/>
            <a:ext cx="274320" cy="274320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08792" y="2148840"/>
            <a:ext cx="274320" cy="274320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05784" y="4297680"/>
            <a:ext cx="274320" cy="274320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57288" y="4297680"/>
            <a:ext cx="274320" cy="274320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08792" y="4297680"/>
            <a:ext cx="274320" cy="274320"/>
          </a:xfrm>
          <a:prstGeom prst="ellipse">
            <a:avLst/>
          </a:prstGeom>
          <a:solidFill>
            <a:srgbClr val="2FA37A"/>
          </a:solidFill>
          <a:ln w="12700">
            <a:solidFill>
              <a:srgbClr val="2FA37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técnica tropeça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5248656" cy="1691640"/>
          </a:xfrm>
          <a:prstGeom prst="roundRect">
            <a:avLst>
              <a:gd name="adj" fmla="val 6486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05740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só paralelos aos eixos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468880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regiões fantasma de baixa pontuação em dados com correlação diagonal. O Extended Isolation Forest surgiu para corrigir isso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08776" y="1828800"/>
            <a:ext cx="5248656" cy="1691640"/>
          </a:xfrm>
          <a:prstGeom prst="roundRect">
            <a:avLst>
              <a:gd name="adj" fmla="val 6486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83096" y="205740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locais passam despercebidas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83096" y="2468880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ponto estranho dentro de um grupo denso pode receber score normal. Métodos de densidade como LOF lidam melhor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3749040"/>
            <a:ext cx="5248656" cy="1691640"/>
          </a:xfrm>
          <a:prstGeom prst="roundRect">
            <a:avLst>
              <a:gd name="adj" fmla="val 6486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97764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categóricos e ausentes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389120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aceita números. Categorias precisam ser codificadas e valores ausentes tratados antes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08776" y="3749040"/>
            <a:ext cx="5248656" cy="1691640"/>
          </a:xfrm>
          <a:prstGeom prst="roundRect">
            <a:avLst>
              <a:gd name="adj" fmla="val 6486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83096" y="397764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é um chute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4389120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contamination precisa ser escolhido pelo analista. Errar para cima gera falsos alarmes; para baixo, esconde fraudes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486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disso, o resultado varia entre execuções por ser aleatório, e o score diz </a:t>
            </a:r>
            <a:pPr indent="0" marL="0">
              <a:buNone/>
            </a:pPr>
            <a:r>
              <a:rPr lang="en-US" sz="1300" i="1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 é estranho, não </a:t>
            </a:r>
            <a:pPr indent="0" marL="0">
              <a:buNone/>
            </a:pPr>
            <a:r>
              <a:rPr lang="en-US" sz="1300" i="1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SUCESSO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Adotado por quem lida com dados em escala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34229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0574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468880"/>
            <a:ext cx="2874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padrão na biblioteca de aprendizado de máquina mais usada do mundo, ao lado de LOF e One-Class SVM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3024" y="1828800"/>
            <a:ext cx="34229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7344" y="20574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nuvem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57344" y="2468880"/>
            <a:ext cx="2874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detecção de anomalias em provedores de nuvem usam variantes do algoritmo, como o Random Cut Forest, para séries temporais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34528" y="1828800"/>
            <a:ext cx="342290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8848" y="20574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Antifraude bancário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308848" y="2468880"/>
            <a:ext cx="2874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como primeira camada de triagem em fintechs e bancos por rodar rápido sobre milhões de transações sem rótulos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" y="4114800"/>
            <a:ext cx="10725912" cy="1280160"/>
          </a:xfrm>
          <a:prstGeom prst="roundRect">
            <a:avLst>
              <a:gd name="adj" fmla="val 8571"/>
            </a:avLst>
          </a:prstGeom>
          <a:solidFill>
            <a:srgbClr val="0F1F1C"/>
          </a:solidFill>
          <a:ln w="12700">
            <a:solidFill>
              <a:srgbClr val="0F1F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1560" y="4297680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dá certo em produção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466344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em segundos, consome pouca memória, não exige rótulos e serve de filtro antes de análises mais caras.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um caso específico com referência, se o grupo encontrar um artigo ou reportagem]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onde a técnica caminha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65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 Deep Isolation Forest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965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em qualquer direção e uso de redes neurais para projetar os dados antes de isolar, capturando relações não lineares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2834640"/>
            <a:ext cx="10725912" cy="0"/>
          </a:xfrm>
          <a:prstGeom prst="line">
            <a:avLst/>
          </a:prstGeom>
          <a:noFill/>
          <a:ln w="12700">
            <a:solidFill>
              <a:srgbClr val="2A3E3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 tempo real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017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que atualizam as árvores conforme os dados chegam, para sensores IoT e monitoramento contínuo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" y="3886200"/>
            <a:ext cx="10725912" cy="0"/>
          </a:xfrm>
          <a:prstGeom prst="line">
            <a:avLst/>
          </a:prstGeom>
          <a:noFill/>
          <a:ln w="12700">
            <a:solidFill>
              <a:srgbClr val="2A3E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4069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com SHAP e métodos de atribuição para dizer quais atributos tornaram o registro anômalo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31520" y="4937760"/>
            <a:ext cx="10725912" cy="0"/>
          </a:xfrm>
          <a:prstGeom prst="line">
            <a:avLst/>
          </a:prstGeom>
          <a:noFill/>
          <a:ln w="12700">
            <a:solidFill>
              <a:srgbClr val="2A3E3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120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híbridos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5120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como filtro rápido seguido de modelos mais pesados, e integração com pipelines de MLOps e observabilidade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 · 1 DE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conjunto de dados fictício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escolhido: </a:t>
            </a:r>
            <a:pPr indent="0" marL="0">
              <a:buNone/>
            </a:pPr>
            <a:r>
              <a:rPr lang="en-US" sz="1500" b="1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[transações de uma loja online]</a:t>
            </a:r>
            <a:pPr indent="0" marL="0">
              <a:buNone/>
            </a:pPr>
            <a:r>
              <a:rPr lang="en-US" sz="15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Um CSV gerado pelo grupo com [__] registros.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id_transacao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data_hora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valor, quantidade, hora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atributos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categoria, pais, pagamento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atributos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589520" y="1920240"/>
            <a:ext cx="3867912" cy="3566160"/>
          </a:xfrm>
          <a:prstGeom prst="roundRect">
            <a:avLst>
              <a:gd name="adj" fmla="val 3077"/>
            </a:avLst>
          </a:prstGeom>
          <a:solidFill>
            <a:srgbClr val="0F1F1C"/>
          </a:solidFill>
          <a:ln w="12700">
            <a:solidFill>
              <a:srgbClr val="0F1F1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6384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plantadas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6517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[__] valores extremos isolados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[__] anomalias por combinação: valor comum em país incomum às 3h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[__] valores ausentes em valor e categoria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4526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do professor: pelo menos 50 registros, 3 anomalias, 2 ausentes e 1 por combinação.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 · 2 DE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etapas do notebook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3422904" cy="2057400"/>
          </a:xfrm>
          <a:prstGeom prst="roundRect">
            <a:avLst>
              <a:gd name="adj" fmla="val 5333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057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56032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com pandas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7180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read_csv, head, info e describe para conhecer a base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3024" y="1828800"/>
            <a:ext cx="3422904" cy="2057400"/>
          </a:xfrm>
          <a:prstGeom prst="roundRect">
            <a:avLst>
              <a:gd name="adj" fmla="val 5333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7344" y="2057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57344" y="256032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tipos e ausentes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57344" y="297180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dtypes, isna().sum() e conversão da coluna de data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34528" y="1828800"/>
            <a:ext cx="3422904" cy="2057400"/>
          </a:xfrm>
          <a:prstGeom prst="roundRect">
            <a:avLst>
              <a:gd name="adj" fmla="val 5333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08848" y="2057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308848" y="256032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ausentes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308848" y="297180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nos numéricos, moda ou "desconhecido" nos categóricos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114800"/>
            <a:ext cx="3422904" cy="2057400"/>
          </a:xfrm>
          <a:prstGeom prst="roundRect">
            <a:avLst>
              <a:gd name="adj" fmla="val 5333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4343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484632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categorias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525780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para o modelo enxergar país, categoria e pagamento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383024" y="4114800"/>
            <a:ext cx="3422904" cy="2057400"/>
          </a:xfrm>
          <a:prstGeom prst="roundRect">
            <a:avLst>
              <a:gd name="adj" fmla="val 5333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57344" y="4343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6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4657344" y="484632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Isolation Forest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657344" y="525780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decision_function e predict com contamination ajustado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34528" y="4114800"/>
            <a:ext cx="3422904" cy="2057400"/>
          </a:xfrm>
          <a:prstGeom prst="roundRect">
            <a:avLst>
              <a:gd name="adj" fmla="val 5333"/>
            </a:avLst>
          </a:prstGeom>
          <a:solidFill>
            <a:srgbClr val="1A2E2A"/>
          </a:solidFill>
          <a:ln w="12700">
            <a:solidFill>
              <a:srgbClr val="1A2E2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08848" y="43434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8308848" y="484632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 interpretação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308848" y="5257800"/>
            <a:ext cx="2874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 colorida por anomalia e histograma dos scores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 · 3 DE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interpretação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087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57607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B0BDB8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1463040" y="3200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o gráfico gerado no notebook: dispersão valor × hora com anomalias em laranja]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828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6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[__]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marcados como anomalia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3017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[__] de [__]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plantadas que o modelo encontrou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42976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o modelo acertou]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ele deixou passar e por quê]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[Falsos positivos e como ajustar contamination]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A3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Anomalias são fáceis de isolar. Isso é tudo que o Isolation Forest precisa saber.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Rápido, sem rótulos e simples de aplicar. O trabalho de verdade está em preparar os dados e interpretar os scores.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· Grupo 4 · Perguntas?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2026-09-19T01:49:00Z</dcterms:created>
  <dcterms:modified xsi:type="dcterms:W3CDTF">2026-09-19T01:49:00Z</dcterms:modified>
</cp:coreProperties>
</file>